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SERMON SERIES  ·  GRACE, IDENTITY &amp; THE GOSPEL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680960" cy="237744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Root</a:t>
            </a:r>
            <a:endParaRPr lang="en-US" sz="7200" dirty="0"/>
          </a:p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8D5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Nobody Told You About Sin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Romans 5:19  ·  Romans 5:12  ·  2 Corinthians 5:17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F1A"/>
          </a:solidFill>
          <a:ln w="12700">
            <a:solidFill>
              <a:srgbClr val="0D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-9144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C9A84C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as by one man’s disobedience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i="1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many were 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made sinners,</a:t>
            </a:r>
            <a:pPr algn="ctr" indent="0" marL="0">
              <a:buNone/>
            </a:pPr>
            <a:endParaRPr lang="en-US" sz="2600" dirty="0"/>
          </a:p>
          <a:p>
            <a:pPr algn="ctr" indent="0" marL="0">
              <a:buNone/>
            </a:pPr>
            <a:r>
              <a:rPr lang="en-US" sz="2600" i="1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by the obedience of one shall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i="1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many be 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made righteous.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0" y="4206240"/>
            <a:ext cx="219456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Romans 5:19  (KJV)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ROOM: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56032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“How many of you have ever tried to
</a:t>
            </a:r>
            <a:pPr algn="ctr" indent="0" marL="0">
              <a:buNone/>
            </a:pPr>
            <a:r>
              <a:rPr lang="en-US" sz="38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doing something wrong</a:t>
            </a:r>
            <a:pPr algn="ctr" indent="0" marL="0">
              <a:buNone/>
            </a:pPr>
            <a:r>
              <a:rPr lang="en-US" sz="3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and </a:t>
            </a:r>
            <a:pPr algn="ctr" indent="0" marL="0">
              <a:buNone/>
            </a:pPr>
            <a:r>
              <a:rPr lang="en-US" sz="38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failed?</a:t>
            </a:r>
            <a:pPr algn="ctr" indent="0" marL="0">
              <a:buNone/>
            </a:pPr>
            <a:r>
              <a:rPr lang="en-US" sz="3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0" y="5065776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promised. You tried. You failed. You felt worse.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A12"/>
          </a:solidFill>
          <a:ln w="12700">
            <a:solidFill>
              <a:srgbClr val="080A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i="1" dirty="0">
                <a:solidFill>
                  <a:srgbClr val="8B92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didn’t have 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DISCIPLINE</a:t>
            </a:r>
            <a:endParaRPr lang="en-US" sz="7200" dirty="0"/>
          </a:p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371600" y="3246120"/>
            <a:ext cx="64008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015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8B92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had 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9136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DIAGNOSIS PROBLEM.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173736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Is Not What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Think It Is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457200" y="2487168"/>
            <a:ext cx="82296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651760"/>
            <a:ext cx="3749040" cy="1737360"/>
          </a:xfrm>
          <a:prstGeom prst="rect">
            <a:avLst/>
          </a:prstGeom>
          <a:solidFill>
            <a:srgbClr val="161929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743200"/>
            <a:ext cx="3474720" cy="1463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 SAYS: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“sin less”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 better”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“try harder”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37760" y="2651760"/>
            <a:ext cx="3749040" cy="1737360"/>
          </a:xfrm>
          <a:prstGeom prst="rect">
            <a:avLst/>
          </a:prstGeom>
          <a:solidFill>
            <a:srgbClr val="1A0E0E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2743200"/>
            <a:ext cx="3474720" cy="1463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TRUTH: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is not an action.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is a 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8B92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don’t become a sinner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because you sinned.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0" y="1965960"/>
            <a:ext cx="36576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8B92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sin because you were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born a sinner.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“Many were MADE sinners.”  — Romans 5:19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548640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Weed Root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74320" y="146304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sin by fixing behavior is like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1755648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weeds and leaving the root in the ground.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218541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spend all afternoon yanking them out.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247802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yard looks clean. You feel accomplished.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290779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you didn’t kill it.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" y="320040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separated it temporarily.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" y="3630168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D5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root is still there.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74320" y="397764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D5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it will always grow back.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It’s a Bloodline Problem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731520" y="1591056"/>
            <a:ext cx="7680960" cy="1325880"/>
          </a:xfrm>
          <a:prstGeom prst="rect">
            <a:avLst/>
          </a:prstGeom>
          <a:solidFill>
            <a:srgbClr val="161929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82496"/>
            <a:ext cx="73152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50" i="1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“Wherefore, as by one man sin entered into the world,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i="1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death by sin; and so 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death passed upon all men</a:t>
            </a:r>
            <a:pPr algn="ctr" indent="0" marL="0">
              <a:buNone/>
            </a:pPr>
            <a:r>
              <a:rPr lang="en-US" sz="1550" i="1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i="1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that all have sinned.”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Romans 5:12  (KJV)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768096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546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Adam’s disobedience didn’t just set a bad example.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i="1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infected the entire bloodline.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039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Taught Them to Lie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14173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babies never need to be taught how to lie?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965960"/>
            <a:ext cx="8503920" cy="1371600"/>
          </a:xfrm>
          <a:prstGeom prst="rect">
            <a:avLst/>
          </a:prstGeom>
          <a:solidFill>
            <a:srgbClr val="161929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57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two-year-old — cookie crumbs on their face, chocolate 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hands — looks right at you and says: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didn’t do it.”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74320" y="3447288"/>
            <a:ext cx="85039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361188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B92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That’s not learned behavior.</a:t>
            </a:r>
            <a:pPr algn="ctr" indent="0" marL="0">
              <a:buNone/>
            </a:pPr>
            <a:r>
              <a:rPr lang="en-US" sz="1800" i="1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That’s </a:t>
            </a:r>
            <a:pPr algn="ctr" indent="0" marL="0">
              <a:buNone/>
            </a:pPr>
            <a:r>
              <a:rPr lang="en-US" sz="18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inherited nature.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" y="42062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was already there.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141732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Jesus Didn’t Come</a:t>
            </a:r>
            <a:endParaRPr lang="en-US" sz="4600" dirty="0"/>
          </a:p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Improve You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1371600" y="2066544"/>
            <a:ext cx="64008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212848"/>
            <a:ext cx="3749040" cy="1600200"/>
          </a:xfrm>
          <a:prstGeom prst="rect">
            <a:avLst/>
          </a:prstGeom>
          <a:solidFill>
            <a:srgbClr val="161929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304288"/>
            <a:ext cx="3474720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Religion: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“Here’s what you must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to become acceptable.”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937760" y="2212848"/>
            <a:ext cx="3749040" cy="1600200"/>
          </a:xfrm>
          <a:prstGeom prst="rect">
            <a:avLst/>
          </a:prstGeom>
          <a:solidFill>
            <a:srgbClr val="0D1A0D"/>
          </a:solidFill>
          <a:ln w="12700">
            <a:solidFill>
              <a:srgbClr val="2A5C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2304288"/>
            <a:ext cx="3474720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Gospel: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“Here’s what was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for you —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you couldn’t.”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i="1" dirty="0">
                <a:solidFill>
                  <a:srgbClr val="8B92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came to make 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46320" y="39319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dead people alive.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" y="-1828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C9A84C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Therefore if any man be in Christ,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i="1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is a 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creature:</a:t>
            </a:r>
            <a:pPr algn="ctr" indent="0" marL="0">
              <a:buNone/>
            </a:pPr>
            <a:endParaRPr lang="en-US" sz="2600" dirty="0"/>
          </a:p>
          <a:p>
            <a:pPr algn="ctr" indent="0" marL="0">
              <a:buNone/>
            </a:pPr>
            <a:r>
              <a:rPr lang="en-US" sz="2600" i="1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old things are passed away;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i="1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behold, 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things are become new.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0" y="3749040"/>
            <a:ext cx="27432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Corinthians 5:17  (KJV)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A12"/>
          </a:solidFill>
          <a:ln w="12700">
            <a:solidFill>
              <a:srgbClr val="080A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8B92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are…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0" y="841248"/>
            <a:ext cx="4572000" cy="749808"/>
          </a:xfrm>
          <a:prstGeom prst="rect">
            <a:avLst/>
          </a:prstGeom>
          <a:solidFill>
            <a:srgbClr val="161929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87782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B92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improved.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0" y="1773936"/>
            <a:ext cx="4572000" cy="749808"/>
          </a:xfrm>
          <a:prstGeom prst="rect">
            <a:avLst/>
          </a:prstGeom>
          <a:solidFill>
            <a:srgbClr val="161929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18105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B92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upgraded.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286000" y="2706624"/>
            <a:ext cx="4572000" cy="749808"/>
          </a:xfrm>
          <a:prstGeom prst="rect">
            <a:avLst/>
          </a:prstGeom>
          <a:solidFill>
            <a:srgbClr val="161929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274320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B92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enhanced.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371600" y="3639312"/>
            <a:ext cx="6400800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0" y="3675888"/>
            <a:ext cx="6400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21208"/>
            <a:ext cx="850392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Cat &amp; the Dog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cat become a dog by acting like a dog?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teach a cat to fetch.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20574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 collar on it. Call it a good boy.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23317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it to sit on command.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260604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at midnight — it’s still licking itself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8803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knocking things off the counter.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315468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D5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Because training never changed the nature.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3520440"/>
            <a:ext cx="85039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65760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Behavior modification cannot change </a:t>
            </a:r>
            <a:pPr algn="ctr" indent="0" marL="0">
              <a:buNone/>
            </a:pPr>
            <a:r>
              <a:rPr lang="en-US" sz="18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are.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Jesus can do that.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4  —  Romans 5:19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141732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 Obedience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Became Your Identity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084832"/>
            <a:ext cx="73152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240280"/>
            <a:ext cx="3657600" cy="2423160"/>
          </a:xfrm>
          <a:prstGeom prst="rect">
            <a:avLst/>
          </a:prstGeom>
          <a:solidFill>
            <a:srgbClr val="1A0B0B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31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26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man’s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DISO­BEDIENCE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5478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many sinners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0050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birth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0" y="3017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92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029200" y="2240280"/>
            <a:ext cx="3657600" cy="2423160"/>
          </a:xfrm>
          <a:prstGeom prst="rect">
            <a:avLst/>
          </a:prstGeom>
          <a:solidFill>
            <a:srgbClr val="0D1A0D"/>
          </a:solidFill>
          <a:ln w="12700">
            <a:solidFill>
              <a:srgbClr val="3A7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2331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JESUS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20640" y="27889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Man’s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OBEDIENCE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120640" y="35478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E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many righteous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0" y="40050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new birth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Shifts Starting Today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solidFill>
            <a:srgbClr val="161929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27632"/>
            <a:ext cx="685800" cy="6858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276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5544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D5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out-behaving your nature.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938528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effort changes your spiritual DNA. Only the blood of Jesus does that.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8229600" cy="1005840"/>
          </a:xfrm>
          <a:prstGeom prst="rect">
            <a:avLst/>
          </a:prstGeom>
          <a:solidFill>
            <a:srgbClr val="161929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761488"/>
            <a:ext cx="685800" cy="6858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614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268833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D5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Reframe how you see your sin.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072384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flesh acted like flesh. But my identity is in Christ. His record is my record.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30752"/>
            <a:ext cx="8229600" cy="1005840"/>
          </a:xfrm>
          <a:prstGeom prst="rect">
            <a:avLst/>
          </a:prstGeom>
          <a:solidFill>
            <a:srgbClr val="161929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95344"/>
            <a:ext cx="685800" cy="6858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9534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0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382219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D5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truth out loud.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206240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a new creature. Old things have passed away. I am righteous because of Jesus.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 OUT LOUD: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7680960" cy="3474720"/>
          </a:xfrm>
          <a:prstGeom prst="rect">
            <a:avLst/>
          </a:prstGeom>
          <a:solidFill>
            <a:srgbClr val="161929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73152" cy="3474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960120"/>
            <a:ext cx="72237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am a </a:t>
            </a:r>
            <a:pPr algn="ctr" indent="0" marL="0">
              <a:buNone/>
            </a:pPr>
            <a:r>
              <a:rPr lang="en-US" sz="22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creature in Christ.</a:t>
            </a:r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Old things have passed away.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don’t fight to become righteous.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already am — because of 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Jesus.”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4434840"/>
            <a:ext cx="27432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5537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2 Corinthians 5:17  &amp;  Romans 5:19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A12"/>
          </a:solidFill>
          <a:ln w="12700">
            <a:solidFill>
              <a:srgbClr val="08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4064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8B92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Jesus didn’t hand you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checklist.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2743200" y="1874520"/>
            <a:ext cx="36576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57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8B92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handed you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822960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new birth certificate.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were born a sinner by one man’s failure.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0416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were reborn righteous by one Man’s faithfulness.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4988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is grace.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PRAYER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640080"/>
            <a:ext cx="7680960" cy="4160520"/>
          </a:xfrm>
          <a:prstGeom prst="rect">
            <a:avLst/>
          </a:prstGeom>
          <a:solidFill>
            <a:srgbClr val="161929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640080"/>
            <a:ext cx="54864" cy="41605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777240"/>
            <a:ext cx="7315200" cy="3886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Father God,
</a:t>
            </a:r>
            <a:pPr indent="0" marL="0">
              <a:buNone/>
            </a:pPr>
            <a:r>
              <a:rPr lang="en-US" sz="1450" i="1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confess I’ve been fighting symptoms my whole life.
Trying to be good enough. Trying to clean myself up.
Trying to earn what You already gave me for free.
</a:t>
            </a:r>
            <a:pPr indent="0" marL="0">
              <a:buNone/>
            </a:pPr>
            <a:r>
              <a:rPr lang="en-US" sz="1450" i="1" dirty="0">
                <a:solidFill>
                  <a:srgbClr val="F5E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Forgive me for trusting my effort more than
Your Son’s sacrifice.
</a:t>
            </a:r>
            <a:pPr indent="0" marL="0">
              <a:buNone/>
            </a:pPr>
            <a:r>
              <a:rPr lang="en-US" sz="1450" i="1" dirty="0">
                <a:solidFill>
                  <a:srgbClr val="E8D5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Remind me today — I am not what I do.
I am who You say I am.
</a:t>
            </a:r>
            <a:pPr indent="0" marL="0">
              <a:buNone/>
            </a:pPr>
            <a:r>
              <a:rPr lang="en-US" sz="145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new creature. Made righteous by the obedience of Jesus.</a:t>
            </a:r>
            <a:endParaRPr lang="en-US" sz="1450" dirty="0"/>
          </a:p>
          <a:p>
            <a:pPr indent="0" marL="0">
              <a:buNone/>
            </a:pPr>
            <a:r>
              <a:rPr lang="en-US" sz="145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rest in that today. In Jesus’ name — Amen.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Root Problem</dc:title>
  <dc:subject>PptxGenJS Presentation</dc:subject>
  <dc:creator>PptxGenJS</dc:creator>
  <cp:lastModifiedBy>PptxGenJS</cp:lastModifiedBy>
  <cp:revision>1</cp:revision>
  <dcterms:created xsi:type="dcterms:W3CDTF">2026-05-29T21:59:52Z</dcterms:created>
  <dcterms:modified xsi:type="dcterms:W3CDTF">2026-05-29T21:59:52Z</dcterms:modified>
</cp:coreProperties>
</file>